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5143500" cx="9144000"/>
  <p:notesSz cx="5143500" cy="9144000"/>
  <p:embeddedFontLst>
    <p:embeddedFont>
      <p:font typeface="Anton"/>
      <p:regular r:id="rId24"/>
    </p:embeddedFont>
    <p:embeddedFont>
      <p:font typeface="Public Sans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872942A-C13A-4917-AA33-70AF4CBC4F82}">
  <a:tblStyle styleId="{D872942A-C13A-4917-AA33-70AF4CBC4F82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Anton-regular.fntdata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ublicSans-bold.fntdata"/><Relationship Id="rId25" Type="http://schemas.openxmlformats.org/officeDocument/2006/relationships/font" Target="fonts/PublicSans-regular.fntdata"/><Relationship Id="rId28" Type="http://schemas.openxmlformats.org/officeDocument/2006/relationships/font" Target="fonts/PublicSans-boldItalic.fntdata"/><Relationship Id="rId27" Type="http://schemas.openxmlformats.org/officeDocument/2006/relationships/font" Target="fonts/PublicSans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" name="Google Shape;2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" name="Google Shape;3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" name="Google Shape;4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hf4b9a8adc4672d5_1_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hf4b9a8adc4672d5_1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hf4b9a8adc4672d5_1_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hf4b9a8adc4672d5_1_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hf4b9a8adc4672d5_1_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hf4b9a8adc4672d5_1_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RO_L">
  <p:cSld name="HERO_L">
    <p:bg>
      <p:bgPr>
        <a:solidFill>
          <a:srgbClr val="F1F1EC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title"/>
          </p:nvPr>
        </p:nvSpPr>
        <p:spPr>
          <a:xfrm>
            <a:off x="548640" y="548640"/>
            <a:ext cx="429768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nton"/>
              <a:buNone/>
              <a:defRPr b="0" i="0" sz="5200" u="none" cap="none" strike="noStrik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">
  <p:cSld name="CONTENT">
    <p:bg>
      <p:bgPr>
        <a:solidFill>
          <a:srgbClr val="F1F1EC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type="title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nton"/>
              <a:buNone/>
              <a:defRPr b="0" i="0" sz="4000" u="none" cap="none" strike="noStrik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S">
  <p:cSld name="CONTENTS">
    <p:bg>
      <p:bgPr>
        <a:solidFill>
          <a:srgbClr val="F1F1EC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/>
          <p:nvPr>
            <p:ph type="title"/>
          </p:nvPr>
        </p:nvSpPr>
        <p:spPr>
          <a:xfrm>
            <a:off x="548640" y="1554480"/>
            <a:ext cx="42062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00"/>
              <a:buFont typeface="Anton"/>
              <a:buNone/>
              <a:defRPr b="0" i="0" sz="5800" u="none" cap="none" strike="noStrik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RO_R">
  <p:cSld name="HERO_R">
    <p:bg>
      <p:bgPr>
        <a:solidFill>
          <a:srgbClr val="F1F1EC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5"/>
          <p:cNvSpPr txBox="1"/>
          <p:nvPr>
            <p:ph type="title"/>
          </p:nvPr>
        </p:nvSpPr>
        <p:spPr>
          <a:xfrm>
            <a:off x="5486400" y="1371600"/>
            <a:ext cx="329184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nton"/>
              <a:buNone/>
              <a:defRPr b="0" i="0" sz="6000" u="none" cap="none" strike="noStrik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jpg"/><Relationship Id="rId4" Type="http://schemas.openxmlformats.org/officeDocument/2006/relationships/image" Target="../media/image5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"/>
          <p:cNvSpPr txBox="1"/>
          <p:nvPr>
            <p:ph type="title"/>
          </p:nvPr>
        </p:nvSpPr>
        <p:spPr>
          <a:xfrm>
            <a:off x="548640" y="548640"/>
            <a:ext cx="429768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nton"/>
              <a:buNone/>
            </a:pPr>
            <a:r>
              <a:rPr lang="en-US" sz="5200">
                <a:solidFill>
                  <a:schemeClr val="dk1"/>
                </a:solidFill>
              </a:rPr>
              <a:t>PLANT DISEASE DETECTION</a:t>
            </a:r>
            <a:endParaRPr sz="5200"/>
          </a:p>
        </p:txBody>
      </p:sp>
      <p:pic>
        <p:nvPicPr>
          <p:cNvPr descr="Potato leaf with early blight lesions" id="25" name="Google Shape;2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20640" y="0"/>
            <a:ext cx="402336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7"/>
          <p:cNvSpPr txBox="1"/>
          <p:nvPr/>
        </p:nvSpPr>
        <p:spPr>
          <a:xfrm>
            <a:off x="548640" y="2926080"/>
            <a:ext cx="4206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ublic Sans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Solanaceae crops using Image Processing, MobileNetV2 and Grad-CAM</a:t>
            </a:r>
            <a:endParaRPr b="0" i="0" sz="1800" u="none" cap="none" strike="noStrik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7" name="Google Shape;27;p7"/>
          <p:cNvSpPr txBox="1"/>
          <p:nvPr/>
        </p:nvSpPr>
        <p:spPr>
          <a:xfrm>
            <a:off x="548640" y="4114800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ublic San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Project on IPCV</a:t>
            </a:r>
            <a:endParaRPr b="0" i="0" sz="1800" u="none" cap="none" strike="noStrik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548690" y="668335"/>
            <a:ext cx="80466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nton"/>
              <a:buNone/>
            </a:pPr>
            <a:r>
              <a:rPr lang="en-US" sz="4000">
                <a:solidFill>
                  <a:schemeClr val="dk1"/>
                </a:solidFill>
              </a:rPr>
              <a:t>TEAM MEMBERS</a:t>
            </a:r>
            <a:endParaRPr sz="4000"/>
          </a:p>
        </p:txBody>
      </p:sp>
      <p:sp>
        <p:nvSpPr>
          <p:cNvPr id="34" name="Google Shape;34;p8"/>
          <p:cNvSpPr txBox="1"/>
          <p:nvPr/>
        </p:nvSpPr>
        <p:spPr>
          <a:xfrm>
            <a:off x="548640" y="1777690"/>
            <a:ext cx="5486400" cy="20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Vartika 20233306</a:t>
            </a:r>
            <a:endParaRPr sz="22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Vaishnavi 20233301</a:t>
            </a:r>
            <a:endParaRPr sz="22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Yashshree 20233324</a:t>
            </a:r>
            <a:endParaRPr sz="22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Yamini 20233320</a:t>
            </a:r>
            <a:endParaRPr sz="22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Public Sans"/>
              <a:buNone/>
            </a:pPr>
            <a:r>
              <a:t/>
            </a:r>
            <a:endParaRPr sz="22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 txBox="1"/>
          <p:nvPr>
            <p:ph type="title"/>
          </p:nvPr>
        </p:nvSpPr>
        <p:spPr>
          <a:xfrm>
            <a:off x="548640" y="1554480"/>
            <a:ext cx="42062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00"/>
              <a:buFont typeface="Anton"/>
              <a:buNone/>
            </a:pPr>
            <a:r>
              <a:rPr lang="en-US" sz="5800">
                <a:solidFill>
                  <a:schemeClr val="dk1"/>
                </a:solidFill>
              </a:rPr>
              <a:t>CONTENTS</a:t>
            </a:r>
            <a:endParaRPr sz="5800"/>
          </a:p>
        </p:txBody>
      </p:sp>
      <p:sp>
        <p:nvSpPr>
          <p:cNvPr id="41" name="Google Shape;41;p9"/>
          <p:cNvSpPr txBox="1"/>
          <p:nvPr/>
        </p:nvSpPr>
        <p:spPr>
          <a:xfrm>
            <a:off x="4937760" y="548640"/>
            <a:ext cx="36576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ublic San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Introduction</a:t>
            </a:r>
            <a:endParaRPr b="0" i="0" sz="1800" u="none" cap="none" strike="noStrik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ublic San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Motivation</a:t>
            </a:r>
            <a:endParaRPr b="0" i="0" sz="1800" u="none" cap="none" strike="noStrik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ublic San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Our Approach</a:t>
            </a:r>
            <a:endParaRPr b="0" i="0" sz="1800" u="none" cap="none" strike="noStrik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ublic San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K-Means Segmentation</a:t>
            </a:r>
            <a:endParaRPr b="0" i="0" sz="1800" u="none" cap="none" strike="noStrik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ublic San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MobileNetV2</a:t>
            </a:r>
            <a:endParaRPr b="0" i="0" sz="1800" u="none" cap="none" strike="noStrik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ublic San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Grad-CAM</a:t>
            </a:r>
            <a:endParaRPr b="0" i="0" sz="1800" u="none" cap="none" strike="noStrik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ublic San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Dashboard</a:t>
            </a:r>
            <a:endParaRPr b="0" i="0" sz="1800" u="none" cap="none" strike="noStrik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ublic San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Dataset and Classes</a:t>
            </a:r>
            <a:endParaRPr b="0" i="0" sz="1800" u="none" cap="none" strike="noStrik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ublic San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Results</a:t>
            </a:r>
            <a:endParaRPr b="0" i="0" sz="1800" u="none" cap="none" strike="noStrik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ublic San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Limitations and Future Scope</a:t>
            </a:r>
            <a:endParaRPr b="0" i="0" sz="1800" u="none" cap="none" strike="noStrik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ublic San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Conclusion</a:t>
            </a:r>
            <a:endParaRPr b="0" i="0" sz="1800" u="none" cap="none" strike="noStrik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type="title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nton"/>
              <a:buNone/>
            </a:pPr>
            <a:r>
              <a:rPr lang="en-US" sz="4000">
                <a:solidFill>
                  <a:schemeClr val="dk1"/>
                </a:solidFill>
              </a:rPr>
              <a:t>INTRODUCTION</a:t>
            </a:r>
            <a:endParaRPr sz="4000"/>
          </a:p>
        </p:txBody>
      </p:sp>
      <p:sp>
        <p:nvSpPr>
          <p:cNvPr id="48" name="Google Shape;48;p10"/>
          <p:cNvSpPr txBox="1"/>
          <p:nvPr/>
        </p:nvSpPr>
        <p:spPr>
          <a:xfrm>
            <a:off x="548640" y="1371600"/>
            <a:ext cx="4206240" cy="3108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ublic San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Tomatoes, potatoes and peppers are staple crops, grown and eaten all over the world.</a:t>
            </a:r>
            <a:endParaRPr b="0" i="0" sz="1800" u="none" cap="none" strike="noStrik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ublic San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Leaf diseases like Late Blight and Early Blight can wipe out a harvest within days if nobody catches them.</a:t>
            </a:r>
            <a:endParaRPr b="0" i="0" sz="1800" u="none" cap="none" strike="noStrik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ublic San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Smallholder farmers rarely have a pathologist nearby, so treatment often comes late or goes wrong.</a:t>
            </a:r>
            <a:endParaRPr b="0" i="0" sz="1800" u="none" cap="none" strike="noStrik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pic>
        <p:nvPicPr>
          <p:cNvPr descr="Bell pepper leaf with bacterial spot" id="49" name="Google Shape;4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0" y="1097280"/>
            <a:ext cx="3566160" cy="35661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type="title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nton"/>
              <a:buNone/>
            </a:pPr>
            <a:r>
              <a:rPr lang="en-US" sz="4000">
                <a:solidFill>
                  <a:schemeClr val="dk1"/>
                </a:solidFill>
              </a:rPr>
              <a:t>MOTIVATION</a:t>
            </a:r>
            <a:endParaRPr sz="4000"/>
          </a:p>
        </p:txBody>
      </p:sp>
      <p:sp>
        <p:nvSpPr>
          <p:cNvPr id="56" name="Google Shape;56;p11"/>
          <p:cNvSpPr txBox="1"/>
          <p:nvPr/>
        </p:nvSpPr>
        <p:spPr>
          <a:xfrm>
            <a:off x="548640" y="1371600"/>
            <a:ext cx="758952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ublic Sans"/>
              <a:buNone/>
            </a:pPr>
            <a:r>
              <a:rPr b="1" i="0" lang="en-US" sz="30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A classifier can be 99% sure and still be looking at the wrong thing.</a:t>
            </a:r>
            <a:endParaRPr b="0" i="0" sz="3000" u="none" cap="none" strike="noStrik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57" name="Google Shape;57;p11"/>
          <p:cNvSpPr txBox="1"/>
          <p:nvPr/>
        </p:nvSpPr>
        <p:spPr>
          <a:xfrm>
            <a:off x="548640" y="2834640"/>
            <a:ext cx="384048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ublic San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Standard deep learning models behave like black boxes. They can name a disease with high confidence while actually focusing on background dirt, lighting artifacts or the markers on a greenhouse bench.</a:t>
            </a:r>
            <a:endParaRPr b="0" i="0" sz="1600" u="none" cap="none" strike="noStrik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58" name="Google Shape;58;p11"/>
          <p:cNvSpPr txBox="1"/>
          <p:nvPr/>
        </p:nvSpPr>
        <p:spPr>
          <a:xfrm>
            <a:off x="4754880" y="2834640"/>
            <a:ext cx="384048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Public Sans"/>
              <a:buNone/>
            </a:pPr>
            <a:r>
              <a:rPr b="1" i="0" lang="en-US" sz="1600" u="none" cap="none" strike="noStrike">
                <a:solidFill>
                  <a:schemeClr val="accent1"/>
                </a:solidFill>
                <a:latin typeface="Public Sans"/>
                <a:ea typeface="Public Sans"/>
                <a:cs typeface="Public Sans"/>
                <a:sym typeface="Public Sans"/>
              </a:rPr>
              <a:t>So we wanted a system that names the disease, measures how severe it is, and shows where the model was looking.</a:t>
            </a:r>
            <a:endParaRPr b="0" i="0" sz="1600" u="none" cap="none" strike="noStrik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2"/>
          <p:cNvSpPr txBox="1"/>
          <p:nvPr>
            <p:ph type="title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nton"/>
              <a:buNone/>
            </a:pPr>
            <a:r>
              <a:rPr lang="en-US" sz="4000">
                <a:solidFill>
                  <a:schemeClr val="dk1"/>
                </a:solidFill>
              </a:rPr>
              <a:t>OUR APPROACH</a:t>
            </a:r>
            <a:endParaRPr sz="4000"/>
          </a:p>
        </p:txBody>
      </p:sp>
      <p:sp>
        <p:nvSpPr>
          <p:cNvPr id="65" name="Google Shape;65;p12"/>
          <p:cNvSpPr txBox="1"/>
          <p:nvPr/>
        </p:nvSpPr>
        <p:spPr>
          <a:xfrm>
            <a:off x="548640" y="1371600"/>
            <a:ext cx="24688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nton"/>
              <a:buNone/>
            </a:pPr>
            <a:r>
              <a:rPr b="0" i="0" lang="en-US" sz="4400" u="none" cap="none" strike="noStrike">
                <a:solidFill>
                  <a:schemeClr val="accent1"/>
                </a:solidFill>
                <a:latin typeface="Anton"/>
                <a:ea typeface="Anton"/>
                <a:cs typeface="Anton"/>
                <a:sym typeface="Anton"/>
              </a:rPr>
              <a:t>01</a:t>
            </a:r>
            <a:endParaRPr b="0" i="0" sz="4400" u="none" cap="none" strike="noStrik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66" name="Google Shape;66;p12"/>
          <p:cNvSpPr txBox="1"/>
          <p:nvPr/>
        </p:nvSpPr>
        <p:spPr>
          <a:xfrm>
            <a:off x="548640" y="219456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ublic Sans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Classical IPCV</a:t>
            </a:r>
            <a:endParaRPr b="0" i="0" sz="2000" u="none" cap="none" strike="noStrik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67" name="Google Shape;67;p12"/>
          <p:cNvSpPr txBox="1"/>
          <p:nvPr/>
        </p:nvSpPr>
        <p:spPr>
          <a:xfrm>
            <a:off x="548640" y="256032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ublic Sans"/>
              <a:buNone/>
            </a:pPr>
            <a:r>
              <a:rPr b="0" i="0" lang="en-US" sz="1400" u="none" cap="none" strike="noStrik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rPr>
              <a:t>Unsupervised</a:t>
            </a:r>
            <a:endParaRPr b="0" i="0" sz="1400" u="none" cap="none" strike="noStrik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548640" y="3017520"/>
            <a:ext cx="246888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ublic San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K-Means colour segmentation in CIELAB isolates the lesions and gives a severity percentage.</a:t>
            </a:r>
            <a:endParaRPr b="0" i="0" sz="1600" u="none" cap="none" strike="noStrik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3291840" y="1371600"/>
            <a:ext cx="24688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nton"/>
              <a:buNone/>
            </a:pPr>
            <a:r>
              <a:rPr b="0" i="0" lang="en-US" sz="4400" u="none" cap="none" strike="noStrike">
                <a:solidFill>
                  <a:schemeClr val="accent1"/>
                </a:solidFill>
                <a:latin typeface="Anton"/>
                <a:ea typeface="Anton"/>
                <a:cs typeface="Anton"/>
                <a:sym typeface="Anton"/>
              </a:rPr>
              <a:t>02</a:t>
            </a:r>
            <a:endParaRPr b="0" i="0" sz="4400" u="none" cap="none" strike="noStrik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70" name="Google Shape;70;p12"/>
          <p:cNvSpPr txBox="1"/>
          <p:nvPr/>
        </p:nvSpPr>
        <p:spPr>
          <a:xfrm>
            <a:off x="3291840" y="219456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ublic Sans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Deep Learning</a:t>
            </a:r>
            <a:endParaRPr b="0" i="0" sz="2000" u="none" cap="none" strike="noStrik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71" name="Google Shape;71;p12"/>
          <p:cNvSpPr txBox="1"/>
          <p:nvPr/>
        </p:nvSpPr>
        <p:spPr>
          <a:xfrm>
            <a:off x="3291840" y="256032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ublic Sans"/>
              <a:buNone/>
            </a:pPr>
            <a:r>
              <a:rPr b="0" i="0" lang="en-US" sz="1400" u="none" cap="none" strike="noStrik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rPr>
              <a:t>Supervised</a:t>
            </a:r>
            <a:endParaRPr b="0" i="0" sz="1400" u="none" cap="none" strike="noStrik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72" name="Google Shape;72;p12"/>
          <p:cNvSpPr txBox="1"/>
          <p:nvPr/>
        </p:nvSpPr>
        <p:spPr>
          <a:xfrm>
            <a:off x="3291840" y="3017520"/>
            <a:ext cx="246888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ublic San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A fine-tuned MobileNetV2 classifies 9 disease classes and is light enough for edge devices.</a:t>
            </a:r>
            <a:endParaRPr b="0" i="0" sz="1600" u="none" cap="none" strike="noStrik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73" name="Google Shape;73;p12"/>
          <p:cNvSpPr txBox="1"/>
          <p:nvPr/>
        </p:nvSpPr>
        <p:spPr>
          <a:xfrm>
            <a:off x="6035040" y="1371600"/>
            <a:ext cx="24688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nton"/>
              <a:buNone/>
            </a:pPr>
            <a:r>
              <a:rPr b="0" i="0" lang="en-US" sz="4400" u="none" cap="none" strike="noStrike">
                <a:solidFill>
                  <a:schemeClr val="accent1"/>
                </a:solidFill>
                <a:latin typeface="Anton"/>
                <a:ea typeface="Anton"/>
                <a:cs typeface="Anton"/>
                <a:sym typeface="Anton"/>
              </a:rPr>
              <a:t>03</a:t>
            </a:r>
            <a:endParaRPr b="0" i="0" sz="4400" u="none" cap="none" strike="noStrik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74" name="Google Shape;74;p12"/>
          <p:cNvSpPr txBox="1"/>
          <p:nvPr/>
        </p:nvSpPr>
        <p:spPr>
          <a:xfrm>
            <a:off x="6035040" y="219456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ublic Sans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Explainable AI</a:t>
            </a:r>
            <a:endParaRPr b="0" i="0" sz="2000" u="none" cap="none" strike="noStrik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75" name="Google Shape;75;p12"/>
          <p:cNvSpPr txBox="1"/>
          <p:nvPr/>
        </p:nvSpPr>
        <p:spPr>
          <a:xfrm>
            <a:off x="6035040" y="256032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ublic Sans"/>
              <a:buNone/>
            </a:pPr>
            <a:r>
              <a:rPr b="0" i="0" lang="en-US" sz="1400" u="none" cap="none" strike="noStrik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rPr>
              <a:t>Grad-CAM</a:t>
            </a:r>
            <a:endParaRPr b="0" i="0" sz="1400" u="none" cap="none" strike="noStrik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76" name="Google Shape;76;p12"/>
          <p:cNvSpPr txBox="1"/>
          <p:nvPr/>
        </p:nvSpPr>
        <p:spPr>
          <a:xfrm>
            <a:off x="6035040" y="3017520"/>
            <a:ext cx="246888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ublic San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A heatmap shows whether the network is looking at the same lesions that K-Means found.</a:t>
            </a:r>
            <a:endParaRPr b="0" i="0" sz="1600" u="none" cap="none" strike="noStrik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3"/>
          <p:cNvSpPr txBox="1"/>
          <p:nvPr>
            <p:ph type="title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nton"/>
              <a:buNone/>
            </a:pPr>
            <a:r>
              <a:rPr lang="en-US" sz="4000">
                <a:solidFill>
                  <a:schemeClr val="dk1"/>
                </a:solidFill>
              </a:rPr>
              <a:t>K-MEANS SEGMENTATION</a:t>
            </a:r>
            <a:endParaRPr sz="4000"/>
          </a:p>
        </p:txBody>
      </p:sp>
      <p:sp>
        <p:nvSpPr>
          <p:cNvPr id="83" name="Google Shape;83;p13"/>
          <p:cNvSpPr txBox="1"/>
          <p:nvPr/>
        </p:nvSpPr>
        <p:spPr>
          <a:xfrm>
            <a:off x="548640" y="1371600"/>
            <a:ext cx="402336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Public Sans"/>
              <a:buNone/>
            </a:pPr>
            <a:r>
              <a:rPr b="1" i="0" lang="en-US" sz="1600" u="none" cap="none" strike="noStrike">
                <a:solidFill>
                  <a:schemeClr val="accent1"/>
                </a:solidFill>
                <a:latin typeface="Public Sans"/>
                <a:ea typeface="Public Sans"/>
                <a:cs typeface="Public Sans"/>
                <a:sym typeface="Public Sans"/>
              </a:rPr>
              <a:t>1  Convert to CIELAB. </a:t>
            </a:r>
            <a:r>
              <a:rPr b="0" i="0" lang="en-US" sz="16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Separating luminance from colour keeps field lighting from breaking the segmentation.</a:t>
            </a:r>
            <a:endParaRPr b="0" i="0" sz="1600" u="none" cap="none" strike="noStrik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Public Sans"/>
              <a:buNone/>
            </a:pPr>
            <a:r>
              <a:rPr b="1" i="0" lang="en-US" sz="1600" u="none" cap="none" strike="noStrike">
                <a:solidFill>
                  <a:schemeClr val="accent1"/>
                </a:solidFill>
                <a:latin typeface="Public Sans"/>
                <a:ea typeface="Public Sans"/>
                <a:cs typeface="Public Sans"/>
                <a:sym typeface="Public Sans"/>
              </a:rPr>
              <a:t>2  Cluster with K = 3. </a:t>
            </a:r>
            <a:r>
              <a:rPr b="0" i="0" lang="en-US" sz="16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cv2.kmeans() splits pixels into background, healthy leaf and lesion.</a:t>
            </a:r>
            <a:endParaRPr b="0" i="0" sz="1600" u="none" cap="none" strike="noStrik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Public Sans"/>
              <a:buNone/>
            </a:pPr>
            <a:r>
              <a:rPr b="1" i="0" lang="en-US" sz="1600" u="none" cap="none" strike="noStrike">
                <a:solidFill>
                  <a:schemeClr val="accent1"/>
                </a:solidFill>
                <a:latin typeface="Public Sans"/>
                <a:ea typeface="Public Sans"/>
                <a:cs typeface="Public Sans"/>
                <a:sym typeface="Public Sans"/>
              </a:rPr>
              <a:t>3  Clean up. </a:t>
            </a:r>
            <a:r>
              <a:rPr b="0" i="0" lang="en-US" sz="16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Morphological opening removes noise, then bitwise-AND masking extracts the lesion patches.</a:t>
            </a:r>
            <a:endParaRPr b="0" i="0" sz="1600" u="none" cap="none" strike="noStrik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pic>
        <p:nvPicPr>
          <p:cNvPr descr="Potato leaf with early blight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92040" y="1371600"/>
            <a:ext cx="1828800" cy="1828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egmented leaf: lesions in brown, healthy tissue in green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12280" y="1371600"/>
            <a:ext cx="182880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4892040" y="32461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Public Sans"/>
              <a:buNone/>
            </a:pPr>
            <a:r>
              <a:rPr b="0" i="0" lang="en-US" sz="1200" u="none" cap="none" strike="noStrik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rPr>
              <a:t>Input leaf</a:t>
            </a:r>
            <a:endParaRPr b="0" i="0" sz="1200" u="none" cap="none" strike="noStrik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6812280" y="32461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Public Sans"/>
              <a:buNone/>
            </a:pPr>
            <a:r>
              <a:rPr b="0" i="0" lang="en-US" sz="1200" u="none" cap="none" strike="noStrik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rPr>
              <a:t>K = 3 result</a:t>
            </a:r>
            <a:endParaRPr b="0" i="0" sz="1200" u="none" cap="none" strike="noStrik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4892040" y="3794760"/>
            <a:ext cx="37490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Public Sans"/>
              <a:buNone/>
            </a:pPr>
            <a:r>
              <a:rPr b="1" i="0" lang="en-US" sz="1600" u="none" cap="none" strike="noStrike">
                <a:solidFill>
                  <a:schemeClr val="accent1"/>
                </a:solidFill>
                <a:latin typeface="Public Sans"/>
                <a:ea typeface="Public Sans"/>
                <a:cs typeface="Public Sans"/>
                <a:sym typeface="Public Sans"/>
              </a:rPr>
              <a:t>Severity (%)</a:t>
            </a:r>
            <a:endParaRPr b="0" i="0" sz="1600" u="none" cap="none" strike="noStrik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ublic San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lesion ÷ leaf pixels × 100</a:t>
            </a:r>
            <a:endParaRPr b="0" i="0" sz="1600" u="none" cap="none" strike="noStrik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/>
          <p:nvPr>
            <p:ph type="title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nton"/>
              <a:buNone/>
            </a:pPr>
            <a:r>
              <a:rPr lang="en-US" sz="4000">
                <a:solidFill>
                  <a:schemeClr val="dk1"/>
                </a:solidFill>
              </a:rPr>
              <a:t>MOBILENETV2</a:t>
            </a:r>
            <a:endParaRPr sz="4000"/>
          </a:p>
        </p:txBody>
      </p:sp>
      <p:sp>
        <p:nvSpPr>
          <p:cNvPr id="95" name="Google Shape;95;p14"/>
          <p:cNvSpPr txBox="1"/>
          <p:nvPr/>
        </p:nvSpPr>
        <p:spPr>
          <a:xfrm>
            <a:off x="548640" y="1325880"/>
            <a:ext cx="35661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600"/>
              <a:buFont typeface="Anton"/>
              <a:buNone/>
            </a:pPr>
            <a:r>
              <a:rPr b="0" i="0" lang="en-US" sz="7600" u="none" cap="none" strike="noStrike">
                <a:solidFill>
                  <a:schemeClr val="accent1"/>
                </a:solidFill>
                <a:latin typeface="Anton"/>
                <a:ea typeface="Anton"/>
                <a:cs typeface="Anton"/>
                <a:sym typeface="Anton"/>
              </a:rPr>
              <a:t>~3.5M</a:t>
            </a:r>
            <a:endParaRPr b="0" i="0" sz="7600" u="none" cap="none" strike="noStrik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548640" y="283464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Public Sans"/>
              <a:buNone/>
            </a:pPr>
            <a:r>
              <a:rPr b="0" i="0" lang="en-US" sz="2000" u="none" cap="none" strike="noStrik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rPr>
              <a:t>parameters</a:t>
            </a:r>
            <a:endParaRPr b="0" i="0" sz="2000" u="none" cap="none" strike="noStrik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4206240" y="1371600"/>
            <a:ext cx="4389120" cy="3108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ublic San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Inverted residual blocks with depthwise separable convolutions keep it light.</a:t>
            </a:r>
            <a:endParaRPr b="0" i="0" sz="1800" u="none" cap="none" strike="noStrik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ublic San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Small enough for mobile devices and single-board computers.</a:t>
            </a:r>
            <a:endParaRPr b="0" i="0" sz="1800" u="none" cap="none" strike="noStrik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ublic San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Fine-tuned with differential learning rates, 0.2× the base LR for the backbone and 2.0× for the classification head, on a cosine annealing schedule.</a:t>
            </a:r>
            <a:endParaRPr b="0" i="0" sz="1800" u="none" cap="none" strike="noStrik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 txBox="1"/>
          <p:nvPr>
            <p:ph type="title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nton"/>
              <a:buNone/>
            </a:pPr>
            <a:r>
              <a:rPr lang="en-US" sz="4000">
                <a:solidFill>
                  <a:schemeClr val="dk1"/>
                </a:solidFill>
              </a:rPr>
              <a:t>GRAD-CAM</a:t>
            </a:r>
            <a:endParaRPr sz="4000"/>
          </a:p>
        </p:txBody>
      </p:sp>
      <p:sp>
        <p:nvSpPr>
          <p:cNvPr id="104" name="Google Shape;104;p15"/>
          <p:cNvSpPr txBox="1"/>
          <p:nvPr/>
        </p:nvSpPr>
        <p:spPr>
          <a:xfrm>
            <a:off x="548640" y="1371600"/>
            <a:ext cx="45720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Public Sans"/>
              <a:buNone/>
            </a:pPr>
            <a:r>
              <a:rPr b="1" i="0" lang="en-US" sz="1600" u="none" cap="none" strike="noStrike">
                <a:solidFill>
                  <a:schemeClr val="accent1"/>
                </a:solidFill>
                <a:latin typeface="Public Sans"/>
                <a:ea typeface="Public Sans"/>
                <a:cs typeface="Public Sans"/>
                <a:sym typeface="Public Sans"/>
              </a:rPr>
              <a:t>1  </a:t>
            </a:r>
            <a:r>
              <a:rPr b="0" i="0" lang="en-US" sz="16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Hook into the last convolutional block, model.features[-1], which has 1280 feature channels.</a:t>
            </a:r>
            <a:endParaRPr b="0" i="0" sz="1600" u="none" cap="none" strike="noStrik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Public Sans"/>
              <a:buNone/>
            </a:pPr>
            <a:r>
              <a:rPr b="1" i="0" lang="en-US" sz="1600" u="none" cap="none" strike="noStrike">
                <a:solidFill>
                  <a:schemeClr val="accent1"/>
                </a:solidFill>
                <a:latin typeface="Public Sans"/>
                <a:ea typeface="Public Sans"/>
                <a:cs typeface="Public Sans"/>
                <a:sym typeface="Public Sans"/>
              </a:rPr>
              <a:t>2  </a:t>
            </a:r>
            <a:r>
              <a:rPr b="0" i="0" lang="en-US" sz="16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Back-propagate gradients from the predicted class.</a:t>
            </a:r>
            <a:endParaRPr b="0" i="0" sz="1600" u="none" cap="none" strike="noStrik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Public Sans"/>
              <a:buNone/>
            </a:pPr>
            <a:r>
              <a:rPr b="1" i="0" lang="en-US" sz="1600" u="none" cap="none" strike="noStrike">
                <a:solidFill>
                  <a:schemeClr val="accent1"/>
                </a:solidFill>
                <a:latin typeface="Public Sans"/>
                <a:ea typeface="Public Sans"/>
                <a:cs typeface="Public Sans"/>
                <a:sym typeface="Public Sans"/>
              </a:rPr>
              <a:t>3  </a:t>
            </a:r>
            <a:r>
              <a:rPr b="0" i="0" lang="en-US" sz="16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Average the gradients over space to get one weight per channel.</a:t>
            </a:r>
            <a:endParaRPr b="0" i="0" sz="1600" u="none" cap="none" strike="noStrik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Public Sans"/>
              <a:buNone/>
            </a:pPr>
            <a:r>
              <a:rPr b="1" i="0" lang="en-US" sz="1600" u="none" cap="none" strike="noStrike">
                <a:solidFill>
                  <a:schemeClr val="accent1"/>
                </a:solidFill>
                <a:latin typeface="Public Sans"/>
                <a:ea typeface="Public Sans"/>
                <a:cs typeface="Public Sans"/>
                <a:sym typeface="Public Sans"/>
              </a:rPr>
              <a:t>4  </a:t>
            </a:r>
            <a:r>
              <a:rPr b="0" i="0" lang="en-US" sz="16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Combine the weighted maps into a coarse heatmap.</a:t>
            </a:r>
            <a:endParaRPr b="0" i="0" sz="1600" u="none" cap="none" strike="noStrik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05" name="Google Shape;105;p15"/>
          <p:cNvSpPr txBox="1"/>
          <p:nvPr/>
        </p:nvSpPr>
        <p:spPr>
          <a:xfrm>
            <a:off x="5577840" y="1463040"/>
            <a:ext cx="31089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nto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rPr>
              <a:t>0.6 × ORIGINAL</a:t>
            </a:r>
            <a:endParaRPr b="0" i="0" sz="2800" u="none" cap="none" strike="noStrik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nton"/>
              <a:buNone/>
            </a:pPr>
            <a:r>
              <a:rPr b="0" i="0" lang="en-US" sz="2800" u="none" cap="none" strike="noStrike">
                <a:solidFill>
                  <a:schemeClr val="accent1"/>
                </a:solidFill>
                <a:latin typeface="Anton"/>
                <a:ea typeface="Anton"/>
                <a:cs typeface="Anton"/>
                <a:sym typeface="Anton"/>
              </a:rPr>
              <a:t>+ 0.4 × JET HEATMAP</a:t>
            </a:r>
            <a:endParaRPr b="0" i="0" sz="2800" u="none" cap="none" strike="noStrik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06" name="Google Shape;106;p15"/>
          <p:cNvSpPr txBox="1"/>
          <p:nvPr/>
        </p:nvSpPr>
        <p:spPr>
          <a:xfrm>
            <a:off x="5577840" y="2926080"/>
            <a:ext cx="301752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Public Sans"/>
              <a:buNone/>
            </a:pPr>
            <a:r>
              <a:rPr b="0" i="0" lang="en-US" sz="1600" u="none" cap="none" strike="noStrik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rPr>
              <a:t>The overlay we show on every leaf, so you can check the model's attention against the real lesions.</a:t>
            </a:r>
            <a:endParaRPr b="0" i="0" sz="1600" u="none" cap="none" strike="noStrik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6"/>
          <p:cNvSpPr txBox="1"/>
          <p:nvPr>
            <p:ph type="title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nton"/>
              <a:buNone/>
            </a:pPr>
            <a:r>
              <a:rPr lang="en-US" sz="4000">
                <a:solidFill>
                  <a:schemeClr val="dk1"/>
                </a:solidFill>
              </a:rPr>
              <a:t>STREAMLIT DASHBOARD</a:t>
            </a:r>
            <a:endParaRPr sz="4000"/>
          </a:p>
        </p:txBody>
      </p:sp>
      <p:sp>
        <p:nvSpPr>
          <p:cNvPr id="113" name="Google Shape;113;p16"/>
          <p:cNvSpPr txBox="1"/>
          <p:nvPr/>
        </p:nvSpPr>
        <p:spPr>
          <a:xfrm>
            <a:off x="6965358" y="288500"/>
            <a:ext cx="12237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13"/>
              <a:buFont typeface="Public Sans"/>
              <a:buNone/>
            </a:pPr>
            <a:r>
              <a:rPr b="1" i="0" lang="en-US" sz="1213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Live inspection</a:t>
            </a:r>
            <a:endParaRPr b="0" i="0" sz="1213" u="none" cap="none" strike="noStrik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14" name="Google Shape;114;p16"/>
          <p:cNvSpPr txBox="1"/>
          <p:nvPr/>
        </p:nvSpPr>
        <p:spPr>
          <a:xfrm>
            <a:off x="6980173" y="526382"/>
            <a:ext cx="1194000" cy="4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70"/>
              <a:buFont typeface="Public Sans"/>
              <a:buNone/>
            </a:pPr>
            <a:r>
              <a:rPr b="0" i="0" lang="en-US" sz="97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Drag and drop a leaf image, or pick a quick-demo sample.</a:t>
            </a:r>
            <a:endParaRPr b="0" i="0" sz="970" u="none" cap="none" strike="noStrik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15" name="Google Shape;115;p16"/>
          <p:cNvSpPr txBox="1"/>
          <p:nvPr/>
        </p:nvSpPr>
        <p:spPr>
          <a:xfrm>
            <a:off x="6980164" y="2320759"/>
            <a:ext cx="12237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13"/>
              <a:buFont typeface="Public Sans"/>
              <a:buNone/>
            </a:pPr>
            <a:r>
              <a:rPr b="1" i="0" lang="en-US" sz="1213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Three-panel viewer</a:t>
            </a:r>
            <a:endParaRPr b="0" i="0" sz="1213" u="none" cap="none" strike="noStrik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16" name="Google Shape;116;p16"/>
          <p:cNvSpPr txBox="1"/>
          <p:nvPr/>
        </p:nvSpPr>
        <p:spPr>
          <a:xfrm>
            <a:off x="6980164" y="2724031"/>
            <a:ext cx="1194000" cy="4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70"/>
              <a:buFont typeface="Public Sans"/>
              <a:buNone/>
            </a:pPr>
            <a:r>
              <a:rPr b="0" i="0" lang="en-US" sz="97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Raw leaf, K-Means lesions and Grad-CAM, side by side.</a:t>
            </a:r>
            <a:endParaRPr b="0" i="0" sz="970" u="none" cap="none" strike="noStrik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17" name="Google Shape;117;p16"/>
          <p:cNvSpPr txBox="1"/>
          <p:nvPr/>
        </p:nvSpPr>
        <p:spPr>
          <a:xfrm>
            <a:off x="6980173" y="1175552"/>
            <a:ext cx="12237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13"/>
              <a:buFont typeface="Public Sans"/>
              <a:buNone/>
            </a:pPr>
            <a:r>
              <a:rPr b="1" i="0" lang="en-US" sz="1213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Agronomist advice</a:t>
            </a:r>
            <a:endParaRPr b="0" i="0" sz="1213" u="none" cap="none" strike="noStrik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18" name="Google Shape;118;p16"/>
          <p:cNvSpPr txBox="1"/>
          <p:nvPr/>
        </p:nvSpPr>
        <p:spPr>
          <a:xfrm>
            <a:off x="6980173" y="1547292"/>
            <a:ext cx="1194000" cy="4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70"/>
              <a:buFont typeface="Public Sans"/>
              <a:buNone/>
            </a:pPr>
            <a:r>
              <a:rPr b="0" i="0" lang="en-US" sz="97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Automatic recommendations for each diagnosed disease.</a:t>
            </a:r>
            <a:endParaRPr b="0" i="0" sz="970" u="none" cap="none" strike="noStrik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19" name="Google Shape;119;p16"/>
          <p:cNvSpPr txBox="1"/>
          <p:nvPr/>
        </p:nvSpPr>
        <p:spPr>
          <a:xfrm>
            <a:off x="6965350" y="3528516"/>
            <a:ext cx="12237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13"/>
              <a:buFont typeface="Public Sans"/>
              <a:buNone/>
            </a:pPr>
            <a:r>
              <a:rPr b="1" i="0" lang="en-US" sz="1213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Performance tab</a:t>
            </a:r>
            <a:endParaRPr b="0" i="0" sz="1213" u="none" cap="none" strike="noStrik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20" name="Google Shape;120;p16"/>
          <p:cNvSpPr txBox="1"/>
          <p:nvPr/>
        </p:nvSpPr>
        <p:spPr>
          <a:xfrm>
            <a:off x="6980164" y="3900785"/>
            <a:ext cx="1194000" cy="4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70"/>
              <a:buFont typeface="Public Sans"/>
              <a:buNone/>
            </a:pPr>
            <a:r>
              <a:rPr b="0" i="0" lang="en-US" sz="97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Confusion matrix and classification metrics from saved evaluations.</a:t>
            </a:r>
            <a:endParaRPr b="0" i="0" sz="970" u="none" cap="none" strike="noStrik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pic>
        <p:nvPicPr>
          <p:cNvPr id="121" name="Google Shape;121;p16" title="WhatsApp Image 2026-10-28 at 7.51.45 PM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650" y="1069775"/>
            <a:ext cx="6201620" cy="3003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17" title="WhatsApp Image 2026-10-28 at 7.51.08 PM.jpeg"/>
          <p:cNvPicPr preferRelativeResize="0"/>
          <p:nvPr/>
        </p:nvPicPr>
        <p:blipFill rotWithShape="1">
          <a:blip r:embed="rId3">
            <a:alphaModFix/>
          </a:blip>
          <a:srcRect b="5678" l="0" r="5678" t="0"/>
          <a:stretch/>
        </p:blipFill>
        <p:spPr>
          <a:xfrm>
            <a:off x="169989" y="524824"/>
            <a:ext cx="8790374" cy="400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8"/>
          <p:cNvSpPr txBox="1"/>
          <p:nvPr>
            <p:ph type="title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nton"/>
              <a:buNone/>
            </a:pPr>
            <a:r>
              <a:rPr lang="en-US" sz="4000">
                <a:solidFill>
                  <a:schemeClr val="dk1"/>
                </a:solidFill>
              </a:rPr>
              <a:t>DATASET AND CLASSES</a:t>
            </a:r>
            <a:endParaRPr sz="4000"/>
          </a:p>
        </p:txBody>
      </p:sp>
      <p:sp>
        <p:nvSpPr>
          <p:cNvPr id="134" name="Google Shape;134;p18"/>
          <p:cNvSpPr txBox="1"/>
          <p:nvPr/>
        </p:nvSpPr>
        <p:spPr>
          <a:xfrm>
            <a:off x="548640" y="118872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Public Sans"/>
              <a:buNone/>
            </a:pPr>
            <a:r>
              <a:rPr b="0" i="0" lang="en-US" sz="1600" u="none" cap="none" strike="noStrik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rPr>
              <a:t>12,335 PlantVillage images, split 70 / 15 / 15 with stratification</a:t>
            </a:r>
            <a:endParaRPr b="0" i="0" sz="1600" u="none" cap="none" strike="noStrik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35" name="Google Shape;135;p18"/>
          <p:cNvSpPr txBox="1"/>
          <p:nvPr/>
        </p:nvSpPr>
        <p:spPr>
          <a:xfrm>
            <a:off x="548640" y="1645920"/>
            <a:ext cx="24688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nton"/>
              <a:buNone/>
            </a:pPr>
            <a:r>
              <a:rPr b="0" i="0" lang="en-US" sz="4400" u="none" cap="none" strike="noStrike">
                <a:solidFill>
                  <a:schemeClr val="accent1"/>
                </a:solidFill>
                <a:latin typeface="Anton"/>
                <a:ea typeface="Anton"/>
                <a:cs typeface="Anton"/>
                <a:sym typeface="Anton"/>
              </a:rPr>
              <a:t>8,634</a:t>
            </a:r>
            <a:endParaRPr b="0" i="0" sz="4400" u="none" cap="none" strike="noStrik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36" name="Google Shape;136;p18"/>
          <p:cNvSpPr txBox="1"/>
          <p:nvPr/>
        </p:nvSpPr>
        <p:spPr>
          <a:xfrm>
            <a:off x="548640" y="237744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ublic Sans"/>
              <a:buNone/>
            </a:pPr>
            <a:r>
              <a:rPr b="0" i="0" lang="en-US" sz="1400" u="none" cap="none" strike="noStrik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rPr>
              <a:t>train</a:t>
            </a:r>
            <a:endParaRPr b="0" i="0" sz="1400" u="none" cap="none" strike="noStrik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37" name="Google Shape;137;p18"/>
          <p:cNvSpPr txBox="1"/>
          <p:nvPr/>
        </p:nvSpPr>
        <p:spPr>
          <a:xfrm>
            <a:off x="3291840" y="1645920"/>
            <a:ext cx="24688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nton"/>
              <a:buNone/>
            </a:pPr>
            <a:r>
              <a:rPr b="0" i="0" lang="en-US" sz="4400" u="none" cap="none" strike="noStrike">
                <a:solidFill>
                  <a:schemeClr val="accent1"/>
                </a:solidFill>
                <a:latin typeface="Anton"/>
                <a:ea typeface="Anton"/>
                <a:cs typeface="Anton"/>
                <a:sym typeface="Anton"/>
              </a:rPr>
              <a:t>1,850</a:t>
            </a:r>
            <a:endParaRPr b="0" i="0" sz="4400" u="none" cap="none" strike="noStrik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38" name="Google Shape;138;p18"/>
          <p:cNvSpPr txBox="1"/>
          <p:nvPr/>
        </p:nvSpPr>
        <p:spPr>
          <a:xfrm>
            <a:off x="3291840" y="237744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ublic Sans"/>
              <a:buNone/>
            </a:pPr>
            <a:r>
              <a:rPr b="0" i="0" lang="en-US" sz="1400" u="none" cap="none" strike="noStrik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rPr>
              <a:t>validation</a:t>
            </a:r>
            <a:endParaRPr b="0" i="0" sz="1400" u="none" cap="none" strike="noStrik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39" name="Google Shape;139;p18"/>
          <p:cNvSpPr txBox="1"/>
          <p:nvPr/>
        </p:nvSpPr>
        <p:spPr>
          <a:xfrm>
            <a:off x="6035040" y="1645920"/>
            <a:ext cx="24688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nton"/>
              <a:buNone/>
            </a:pPr>
            <a:r>
              <a:rPr b="0" i="0" lang="en-US" sz="4400" u="none" cap="none" strike="noStrike">
                <a:solidFill>
                  <a:schemeClr val="accent1"/>
                </a:solidFill>
                <a:latin typeface="Anton"/>
                <a:ea typeface="Anton"/>
                <a:cs typeface="Anton"/>
                <a:sym typeface="Anton"/>
              </a:rPr>
              <a:t>1,851</a:t>
            </a:r>
            <a:endParaRPr b="0" i="0" sz="4400" u="none" cap="none" strike="noStrik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40" name="Google Shape;140;p18"/>
          <p:cNvSpPr txBox="1"/>
          <p:nvPr/>
        </p:nvSpPr>
        <p:spPr>
          <a:xfrm>
            <a:off x="6035040" y="237744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ublic Sans"/>
              <a:buNone/>
            </a:pPr>
            <a:r>
              <a:rPr b="0" i="0" lang="en-US" sz="1400" u="none" cap="none" strike="noStrik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rPr>
              <a:t>test</a:t>
            </a:r>
            <a:endParaRPr b="0" i="0" sz="1400" u="none" cap="none" strike="noStrik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>
            <a:off x="548640" y="292608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ublic Sans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Bell Pepper</a:t>
            </a:r>
            <a:endParaRPr b="0" i="0" sz="2000" u="none" cap="none" strike="noStrik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>
            <a:off x="548640" y="3383280"/>
            <a:ext cx="246888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ublic San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Bacterial spot</a:t>
            </a:r>
            <a:endParaRPr b="0" i="0" sz="1600" u="none" cap="none" strike="noStrik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ublic San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Healthy</a:t>
            </a:r>
            <a:endParaRPr b="0" i="0" sz="1600" u="none" cap="none" strike="noStrik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43" name="Google Shape;143;p18"/>
          <p:cNvSpPr txBox="1"/>
          <p:nvPr/>
        </p:nvSpPr>
        <p:spPr>
          <a:xfrm>
            <a:off x="3291840" y="292608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ublic Sans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Potato</a:t>
            </a:r>
            <a:endParaRPr b="0" i="0" sz="2000" u="none" cap="none" strike="noStrik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44" name="Google Shape;144;p18"/>
          <p:cNvSpPr txBox="1"/>
          <p:nvPr/>
        </p:nvSpPr>
        <p:spPr>
          <a:xfrm>
            <a:off x="3291840" y="3383280"/>
            <a:ext cx="246888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ublic San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Early blight</a:t>
            </a:r>
            <a:endParaRPr b="0" i="0" sz="1600" u="none" cap="none" strike="noStrik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ublic San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Late blight</a:t>
            </a:r>
            <a:endParaRPr b="0" i="0" sz="1600" u="none" cap="none" strike="noStrik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ublic San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Healthy</a:t>
            </a:r>
            <a:endParaRPr b="0" i="0" sz="1600" u="none" cap="none" strike="noStrik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45" name="Google Shape;145;p18"/>
          <p:cNvSpPr txBox="1"/>
          <p:nvPr/>
        </p:nvSpPr>
        <p:spPr>
          <a:xfrm>
            <a:off x="6035040" y="292608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ublic Sans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Tomato</a:t>
            </a:r>
            <a:endParaRPr b="0" i="0" sz="2000" u="none" cap="none" strike="noStrik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46" name="Google Shape;146;p18"/>
          <p:cNvSpPr txBox="1"/>
          <p:nvPr/>
        </p:nvSpPr>
        <p:spPr>
          <a:xfrm>
            <a:off x="6035040" y="3383280"/>
            <a:ext cx="246888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ublic San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Early blight</a:t>
            </a:r>
            <a:endParaRPr b="0" i="0" sz="1600" u="none" cap="none" strike="noStrik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ublic San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Late blight</a:t>
            </a:r>
            <a:endParaRPr b="0" i="0" sz="1600" u="none" cap="none" strike="noStrik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ublic San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Yellow Leaf Curl Virus</a:t>
            </a:r>
            <a:endParaRPr b="0" i="0" sz="1600" u="none" cap="none" strike="noStrik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ublic San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Healthy</a:t>
            </a:r>
            <a:endParaRPr b="0" i="0" sz="1600" u="none" cap="none" strike="noStrik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9"/>
          <p:cNvSpPr txBox="1"/>
          <p:nvPr>
            <p:ph type="title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nton"/>
              <a:buNone/>
            </a:pPr>
            <a:r>
              <a:rPr lang="en-US" sz="4000">
                <a:solidFill>
                  <a:schemeClr val="dk1"/>
                </a:solidFill>
              </a:rPr>
              <a:t>RESULTS</a:t>
            </a:r>
            <a:endParaRPr sz="4000"/>
          </a:p>
        </p:txBody>
      </p:sp>
      <p:sp>
        <p:nvSpPr>
          <p:cNvPr id="153" name="Google Shape;153;p19"/>
          <p:cNvSpPr txBox="1"/>
          <p:nvPr/>
        </p:nvSpPr>
        <p:spPr>
          <a:xfrm>
            <a:off x="548640" y="1280160"/>
            <a:ext cx="521208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200"/>
              <a:buFont typeface="Anton"/>
              <a:buNone/>
            </a:pPr>
            <a:r>
              <a:rPr b="0" i="0" lang="en-US" sz="9200" u="none" cap="none" strike="noStrike">
                <a:solidFill>
                  <a:schemeClr val="accent1"/>
                </a:solidFill>
                <a:latin typeface="Anton"/>
                <a:ea typeface="Anton"/>
                <a:cs typeface="Anton"/>
                <a:sym typeface="Anton"/>
              </a:rPr>
              <a:t>99.78%</a:t>
            </a:r>
            <a:endParaRPr b="0" i="0" sz="9200" u="none" cap="none" strike="noStrik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>
            <a:off x="548640" y="315468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Public Sans"/>
              <a:buNone/>
            </a:pPr>
            <a:r>
              <a:rPr b="1" i="0" lang="en-US" sz="22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overall test accuracy</a:t>
            </a:r>
            <a:endParaRPr b="0" i="0" sz="2200" u="none" cap="none" strike="noStrik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55" name="Google Shape;155;p19"/>
          <p:cNvSpPr txBox="1"/>
          <p:nvPr/>
        </p:nvSpPr>
        <p:spPr>
          <a:xfrm>
            <a:off x="548640" y="3566160"/>
            <a:ext cx="4572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Public Sans"/>
              <a:buNone/>
            </a:pPr>
            <a:r>
              <a:rPr b="0" i="0" lang="en-US" sz="1600" u="none" cap="none" strike="noStrik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rPr>
              <a:t>1,847 of 1,851 test images classified correctly</a:t>
            </a:r>
            <a:endParaRPr b="0" i="0" sz="1600" u="none" cap="none" strike="noStrik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56" name="Google Shape;156;p19"/>
          <p:cNvSpPr txBox="1"/>
          <p:nvPr/>
        </p:nvSpPr>
        <p:spPr>
          <a:xfrm>
            <a:off x="5943600" y="1280160"/>
            <a:ext cx="27432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nton"/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rPr>
              <a:t>0.0077</a:t>
            </a:r>
            <a:endParaRPr b="0" i="0" sz="3600" u="none" cap="none" strike="noStrik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57" name="Google Shape;157;p19"/>
          <p:cNvSpPr txBox="1"/>
          <p:nvPr/>
        </p:nvSpPr>
        <p:spPr>
          <a:xfrm>
            <a:off x="5943600" y="187452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ublic Sans"/>
              <a:buNone/>
            </a:pPr>
            <a:r>
              <a:rPr b="0" i="0" lang="en-US" sz="1400" u="none" cap="none" strike="noStrik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rPr>
              <a:t>test loss (cross-entropy)</a:t>
            </a:r>
            <a:endParaRPr b="0" i="0" sz="1400" u="none" cap="none" strike="noStrik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58" name="Google Shape;158;p19"/>
          <p:cNvSpPr txBox="1"/>
          <p:nvPr/>
        </p:nvSpPr>
        <p:spPr>
          <a:xfrm>
            <a:off x="5943600" y="2377440"/>
            <a:ext cx="27432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nton"/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rPr>
              <a:t>0.998</a:t>
            </a:r>
            <a:endParaRPr b="0" i="0" sz="3600" u="none" cap="none" strike="noStrik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59" name="Google Shape;159;p19"/>
          <p:cNvSpPr txBox="1"/>
          <p:nvPr/>
        </p:nvSpPr>
        <p:spPr>
          <a:xfrm>
            <a:off x="5943600" y="297180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ublic Sans"/>
              <a:buNone/>
            </a:pPr>
            <a:r>
              <a:rPr b="0" i="0" lang="en-US" sz="1400" u="none" cap="none" strike="noStrik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rPr>
              <a:t>macro average F1-score</a:t>
            </a:r>
            <a:endParaRPr b="0" i="0" sz="1400" u="none" cap="none" strike="noStrik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60" name="Google Shape;160;p19"/>
          <p:cNvSpPr txBox="1"/>
          <p:nvPr/>
        </p:nvSpPr>
        <p:spPr>
          <a:xfrm>
            <a:off x="5943600" y="3474720"/>
            <a:ext cx="27432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nton"/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rPr>
              <a:t>0.998</a:t>
            </a:r>
            <a:endParaRPr b="0" i="0" sz="3600" u="none" cap="none" strike="noStrik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61" name="Google Shape;161;p19"/>
          <p:cNvSpPr txBox="1"/>
          <p:nvPr/>
        </p:nvSpPr>
        <p:spPr>
          <a:xfrm>
            <a:off x="5943600" y="406908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ublic Sans"/>
              <a:buNone/>
            </a:pPr>
            <a:r>
              <a:rPr b="0" i="0" lang="en-US" sz="1400" u="none" cap="none" strike="noStrik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rPr>
              <a:t>weighted average F1-score</a:t>
            </a:r>
            <a:endParaRPr b="0" i="0" sz="1400" u="none" cap="none" strike="noStrik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0"/>
          <p:cNvSpPr txBox="1"/>
          <p:nvPr>
            <p:ph type="title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nton"/>
              <a:buNone/>
            </a:pPr>
            <a:r>
              <a:rPr lang="en-US" sz="4000">
                <a:solidFill>
                  <a:schemeClr val="dk1"/>
                </a:solidFill>
              </a:rPr>
              <a:t>PER-CLASS REPORT</a:t>
            </a:r>
            <a:endParaRPr sz="4000"/>
          </a:p>
        </p:txBody>
      </p:sp>
      <p:graphicFrame>
        <p:nvGraphicFramePr>
          <p:cNvPr id="168" name="Google Shape;168;p20"/>
          <p:cNvGraphicFramePr/>
          <p:nvPr/>
        </p:nvGraphicFramePr>
        <p:xfrm>
          <a:off x="548640" y="11887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{D872942A-C13A-4917-AA33-70AF4CBC4F82}</a:tableStyleId>
              </a:tblPr>
              <a:tblGrid>
                <a:gridCol w="3291850"/>
                <a:gridCol w="1188725"/>
                <a:gridCol w="1188725"/>
                <a:gridCol w="1188725"/>
                <a:gridCol w="1188725"/>
              </a:tblGrid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400"/>
                        <a:buFont typeface="Public Sans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dk2"/>
                          </a:solidFill>
                        </a:rPr>
                        <a:t>Class</a:t>
                      </a:r>
                      <a:endParaRPr sz="1400" u="none" cap="none" strike="noStrike"/>
                    </a:p>
                  </a:txBody>
                  <a:tcPr marT="0" marB="0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CF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400"/>
                        <a:buFont typeface="Public Sans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dk2"/>
                          </a:solidFill>
                        </a:rPr>
                        <a:t>Precision</a:t>
                      </a:r>
                      <a:endParaRPr sz="1400" u="none" cap="none" strike="noStrike"/>
                    </a:p>
                  </a:txBody>
                  <a:tcPr marT="0" marB="0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CF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400"/>
                        <a:buFont typeface="Public Sans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dk2"/>
                          </a:solidFill>
                        </a:rPr>
                        <a:t>Recall</a:t>
                      </a:r>
                      <a:endParaRPr sz="1400" u="none" cap="none" strike="noStrike"/>
                    </a:p>
                  </a:txBody>
                  <a:tcPr marT="0" marB="0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CF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400"/>
                        <a:buFont typeface="Public Sans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dk2"/>
                          </a:solidFill>
                        </a:rPr>
                        <a:t>F1-score</a:t>
                      </a:r>
                      <a:endParaRPr sz="1400" u="none" cap="none" strike="noStrike"/>
                    </a:p>
                  </a:txBody>
                  <a:tcPr marT="0" marB="0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CF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400"/>
                        <a:buFont typeface="Public Sans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dk2"/>
                          </a:solidFill>
                        </a:rPr>
                        <a:t>Support</a:t>
                      </a:r>
                      <a:endParaRPr sz="1400" u="none" cap="none" strike="noStrike"/>
                    </a:p>
                  </a:txBody>
                  <a:tcPr marT="0" marB="0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CF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Public Sans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Bell Pepper: Bacterial Spot</a:t>
                      </a:r>
                      <a:endParaRPr sz="1400" u="none" cap="none" strike="noStrike"/>
                    </a:p>
                  </a:txBody>
                  <a:tcPr marT="0" marB="0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CF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CF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Public Sans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0.993</a:t>
                      </a:r>
                      <a:endParaRPr sz="1400" u="none" cap="none" strike="noStrike"/>
                    </a:p>
                  </a:txBody>
                  <a:tcPr marT="0" marB="0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CF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CF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Public Sans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1.000</a:t>
                      </a:r>
                      <a:endParaRPr sz="1400" u="none" cap="none" strike="noStrike"/>
                    </a:p>
                  </a:txBody>
                  <a:tcPr marT="0" marB="0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CF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CF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Public Sans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0.997</a:t>
                      </a:r>
                      <a:endParaRPr sz="1400" u="none" cap="none" strike="noStrike"/>
                    </a:p>
                  </a:txBody>
                  <a:tcPr marT="0" marB="0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CF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CF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Public Sans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152</a:t>
                      </a:r>
                      <a:endParaRPr sz="1400" u="none" cap="none" strike="noStrike"/>
                    </a:p>
                  </a:txBody>
                  <a:tcPr marT="0" marB="0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CF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CF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Public Sans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Bell Pepper: Healthy</a:t>
                      </a:r>
                      <a:endParaRPr sz="1400" u="none" cap="none" strike="noStrike"/>
                    </a:p>
                  </a:txBody>
                  <a:tcPr marT="0" marB="0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CF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CF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Public Sans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1.000</a:t>
                      </a:r>
                      <a:endParaRPr sz="1400" u="none" cap="none" strike="noStrike"/>
                    </a:p>
                  </a:txBody>
                  <a:tcPr marT="0" marB="0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CF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CF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Public Sans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0.996</a:t>
                      </a:r>
                      <a:endParaRPr sz="1400" u="none" cap="none" strike="noStrike"/>
                    </a:p>
                  </a:txBody>
                  <a:tcPr marT="0" marB="0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CF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CF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Public Sans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0.998</a:t>
                      </a:r>
                      <a:endParaRPr sz="1400" u="none" cap="none" strike="noStrike"/>
                    </a:p>
                  </a:txBody>
                  <a:tcPr marT="0" marB="0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CF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CF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Public Sans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249</a:t>
                      </a:r>
                      <a:endParaRPr sz="1400" u="none" cap="none" strike="noStrike"/>
                    </a:p>
                  </a:txBody>
                  <a:tcPr marT="0" marB="0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CF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CF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Public Sans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Potato: Early Blight</a:t>
                      </a:r>
                      <a:endParaRPr sz="1400" u="none" cap="none" strike="noStrike"/>
                    </a:p>
                  </a:txBody>
                  <a:tcPr marT="0" marB="0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CF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CF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Public Sans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1.000</a:t>
                      </a:r>
                      <a:endParaRPr sz="1400" u="none" cap="none" strike="noStrike"/>
                    </a:p>
                  </a:txBody>
                  <a:tcPr marT="0" marB="0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CF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CF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Public Sans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1.000</a:t>
                      </a:r>
                      <a:endParaRPr sz="1400" u="none" cap="none" strike="noStrike"/>
                    </a:p>
                  </a:txBody>
                  <a:tcPr marT="0" marB="0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CF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CF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Public Sans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1.000</a:t>
                      </a:r>
                      <a:endParaRPr sz="1400" u="none" cap="none" strike="noStrike"/>
                    </a:p>
                  </a:txBody>
                  <a:tcPr marT="0" marB="0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CF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CF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Public Sans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162</a:t>
                      </a:r>
                      <a:endParaRPr sz="1400" u="none" cap="none" strike="noStrike"/>
                    </a:p>
                  </a:txBody>
                  <a:tcPr marT="0" marB="0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CF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CF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Public Sans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Potato: Late Blight</a:t>
                      </a:r>
                      <a:endParaRPr sz="1400" u="none" cap="none" strike="noStrike"/>
                    </a:p>
                  </a:txBody>
                  <a:tcPr marT="0" marB="0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CF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CF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Public Sans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1.000</a:t>
                      </a:r>
                      <a:endParaRPr sz="1400" u="none" cap="none" strike="noStrike"/>
                    </a:p>
                  </a:txBody>
                  <a:tcPr marT="0" marB="0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CF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CF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Public Sans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0.993</a:t>
                      </a:r>
                      <a:endParaRPr sz="1400" u="none" cap="none" strike="noStrike"/>
                    </a:p>
                  </a:txBody>
                  <a:tcPr marT="0" marB="0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CF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CF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Public Sans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0.997</a:t>
                      </a:r>
                      <a:endParaRPr sz="1400" u="none" cap="none" strike="noStrike"/>
                    </a:p>
                  </a:txBody>
                  <a:tcPr marT="0" marB="0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CF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CF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Public Sans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146</a:t>
                      </a:r>
                      <a:endParaRPr sz="1400" u="none" cap="none" strike="noStrike"/>
                    </a:p>
                  </a:txBody>
                  <a:tcPr marT="0" marB="0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CF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CF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Public Sans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Potato: Healthy</a:t>
                      </a:r>
                      <a:endParaRPr sz="1400" u="none" cap="none" strike="noStrike"/>
                    </a:p>
                  </a:txBody>
                  <a:tcPr marT="0" marB="0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CF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CF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Public Sans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1.000</a:t>
                      </a:r>
                      <a:endParaRPr sz="1400" u="none" cap="none" strike="noStrike"/>
                    </a:p>
                  </a:txBody>
                  <a:tcPr marT="0" marB="0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CF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CF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Public Sans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1.000</a:t>
                      </a:r>
                      <a:endParaRPr sz="1400" u="none" cap="none" strike="noStrike"/>
                    </a:p>
                  </a:txBody>
                  <a:tcPr marT="0" marB="0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CF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CF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Public Sans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1.000</a:t>
                      </a:r>
                      <a:endParaRPr sz="1400" u="none" cap="none" strike="noStrike"/>
                    </a:p>
                  </a:txBody>
                  <a:tcPr marT="0" marB="0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CF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CF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Public Sans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18</a:t>
                      </a:r>
                      <a:endParaRPr sz="1400" u="none" cap="none" strike="noStrike"/>
                    </a:p>
                  </a:txBody>
                  <a:tcPr marT="0" marB="0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CF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CF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Public Sans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Tomato: Early Blight</a:t>
                      </a:r>
                      <a:endParaRPr sz="1400" u="none" cap="none" strike="noStrike"/>
                    </a:p>
                  </a:txBody>
                  <a:tcPr marT="0" marB="0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CF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CF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Public Sans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0.992</a:t>
                      </a:r>
                      <a:endParaRPr sz="1400" u="none" cap="none" strike="noStrike"/>
                    </a:p>
                  </a:txBody>
                  <a:tcPr marT="0" marB="0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CF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CF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Public Sans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1.000</a:t>
                      </a:r>
                      <a:endParaRPr sz="1400" u="none" cap="none" strike="noStrike"/>
                    </a:p>
                  </a:txBody>
                  <a:tcPr marT="0" marB="0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CF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CF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Public Sans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0.996</a:t>
                      </a:r>
                      <a:endParaRPr sz="1400" u="none" cap="none" strike="noStrike"/>
                    </a:p>
                  </a:txBody>
                  <a:tcPr marT="0" marB="0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CF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CF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Public Sans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126</a:t>
                      </a:r>
                      <a:endParaRPr sz="1400" u="none" cap="none" strike="noStrike"/>
                    </a:p>
                  </a:txBody>
                  <a:tcPr marT="0" marB="0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CF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CF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Public Sans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Tomato: Late Blight</a:t>
                      </a:r>
                      <a:endParaRPr sz="1400" u="none" cap="none" strike="noStrike"/>
                    </a:p>
                  </a:txBody>
                  <a:tcPr marT="0" marB="0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CF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CF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Public Sans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0.996</a:t>
                      </a:r>
                      <a:endParaRPr sz="1400" u="none" cap="none" strike="noStrike"/>
                    </a:p>
                  </a:txBody>
                  <a:tcPr marT="0" marB="0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CF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CF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Public Sans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0.993</a:t>
                      </a:r>
                      <a:endParaRPr sz="1400" u="none" cap="none" strike="noStrike"/>
                    </a:p>
                  </a:txBody>
                  <a:tcPr marT="0" marB="0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CF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CF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Public Sans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0.995</a:t>
                      </a:r>
                      <a:endParaRPr sz="1400" u="none" cap="none" strike="noStrike"/>
                    </a:p>
                  </a:txBody>
                  <a:tcPr marT="0" marB="0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CF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CF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Public Sans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279</a:t>
                      </a:r>
                      <a:endParaRPr sz="1400" u="none" cap="none" strike="noStrike"/>
                    </a:p>
                  </a:txBody>
                  <a:tcPr marT="0" marB="0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CF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CF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Public Sans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Tomato: Yellow Leaf Curl Virus</a:t>
                      </a:r>
                      <a:endParaRPr sz="1400" u="none" cap="none" strike="noStrike"/>
                    </a:p>
                  </a:txBody>
                  <a:tcPr marT="0" marB="0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CF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CF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Public Sans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1.000</a:t>
                      </a:r>
                      <a:endParaRPr sz="1400" u="none" cap="none" strike="noStrike"/>
                    </a:p>
                  </a:txBody>
                  <a:tcPr marT="0" marB="0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CF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CF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Public Sans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1.000</a:t>
                      </a:r>
                      <a:endParaRPr sz="1400" u="none" cap="none" strike="noStrike"/>
                    </a:p>
                  </a:txBody>
                  <a:tcPr marT="0" marB="0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CF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CF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Public Sans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1.000</a:t>
                      </a:r>
                      <a:endParaRPr sz="1400" u="none" cap="none" strike="noStrike"/>
                    </a:p>
                  </a:txBody>
                  <a:tcPr marT="0" marB="0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CF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CF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Public Sans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473</a:t>
                      </a:r>
                      <a:endParaRPr sz="1400" u="none" cap="none" strike="noStrike"/>
                    </a:p>
                  </a:txBody>
                  <a:tcPr marT="0" marB="0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CF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CF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Public Sans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Tomato: Healthy</a:t>
                      </a:r>
                      <a:endParaRPr sz="1400" u="none" cap="none" strike="noStrike"/>
                    </a:p>
                  </a:txBody>
                  <a:tcPr marT="0" marB="0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CF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CF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Public Sans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0.996</a:t>
                      </a:r>
                      <a:endParaRPr sz="1400" u="none" cap="none" strike="noStrike"/>
                    </a:p>
                  </a:txBody>
                  <a:tcPr marT="0" marB="0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CF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CF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Public Sans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1.000</a:t>
                      </a:r>
                      <a:endParaRPr sz="1400" u="none" cap="none" strike="noStrike"/>
                    </a:p>
                  </a:txBody>
                  <a:tcPr marT="0" marB="0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CF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CF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Public Sans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0.998</a:t>
                      </a:r>
                      <a:endParaRPr sz="1400" u="none" cap="none" strike="noStrike"/>
                    </a:p>
                  </a:txBody>
                  <a:tcPr marT="0" marB="0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CF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CF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Public Sans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246</a:t>
                      </a:r>
                      <a:endParaRPr sz="1400" u="none" cap="none" strike="noStrike"/>
                    </a:p>
                  </a:txBody>
                  <a:tcPr marT="0" marB="0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CF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CF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Public Sans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dk1"/>
                          </a:solidFill>
                        </a:rPr>
                        <a:t>Overall (weighted)</a:t>
                      </a:r>
                      <a:endParaRPr sz="1400" u="none" cap="none" strike="noStrike"/>
                    </a:p>
                  </a:txBody>
                  <a:tcPr marT="0" marB="0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CF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CF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Public Sans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dk1"/>
                          </a:solidFill>
                        </a:rPr>
                        <a:t>0.998</a:t>
                      </a:r>
                      <a:endParaRPr sz="1400" u="none" cap="none" strike="noStrike"/>
                    </a:p>
                  </a:txBody>
                  <a:tcPr marT="0" marB="0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CF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CF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Public Sans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dk1"/>
                          </a:solidFill>
                        </a:rPr>
                        <a:t>0.998</a:t>
                      </a:r>
                      <a:endParaRPr sz="1400" u="none" cap="none" strike="noStrike"/>
                    </a:p>
                  </a:txBody>
                  <a:tcPr marT="0" marB="0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CF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CF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Public Sans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dk1"/>
                          </a:solidFill>
                        </a:rPr>
                        <a:t>0.998</a:t>
                      </a:r>
                      <a:endParaRPr sz="1400" u="none" cap="none" strike="noStrike"/>
                    </a:p>
                  </a:txBody>
                  <a:tcPr marT="0" marB="0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CF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CF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Public Sans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dk1"/>
                          </a:solidFill>
                        </a:rPr>
                        <a:t>1,851</a:t>
                      </a:r>
                      <a:endParaRPr sz="1400" u="none" cap="none" strike="noStrike"/>
                    </a:p>
                  </a:txBody>
                  <a:tcPr marT="0" marB="0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CF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CF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21" title="WhatsApp Image 2026-10-28 at 7.51.11 PM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3389" y="95020"/>
            <a:ext cx="8369600" cy="493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2"/>
          <p:cNvSpPr txBox="1"/>
          <p:nvPr>
            <p:ph type="title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nton"/>
              <a:buNone/>
            </a:pPr>
            <a:r>
              <a:rPr lang="en-US" sz="4000">
                <a:solidFill>
                  <a:schemeClr val="dk1"/>
                </a:solidFill>
              </a:rPr>
              <a:t>LIMITATIONS &amp; FUTURE SCOPE</a:t>
            </a:r>
            <a:endParaRPr sz="4000"/>
          </a:p>
        </p:txBody>
      </p:sp>
      <p:sp>
        <p:nvSpPr>
          <p:cNvPr id="181" name="Google Shape;181;p22"/>
          <p:cNvSpPr txBox="1"/>
          <p:nvPr/>
        </p:nvSpPr>
        <p:spPr>
          <a:xfrm>
            <a:off x="548640" y="132588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Public Sans"/>
              <a:buNone/>
            </a:pPr>
            <a:r>
              <a:rPr b="1" i="0" lang="en-US" sz="1800" u="none" cap="none" strike="noStrike">
                <a:solidFill>
                  <a:schemeClr val="accent1"/>
                </a:solidFill>
                <a:latin typeface="Public Sans"/>
                <a:ea typeface="Public Sans"/>
                <a:cs typeface="Public Sans"/>
                <a:sym typeface="Public Sans"/>
              </a:rPr>
              <a:t>Lab vs. field images</a:t>
            </a:r>
            <a:endParaRPr b="0" i="0" sz="1800" u="none" cap="none" strike="noStrik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82" name="Google Shape;182;p22"/>
          <p:cNvSpPr txBox="1"/>
          <p:nvPr/>
        </p:nvSpPr>
        <p:spPr>
          <a:xfrm>
            <a:off x="3108960" y="1325880"/>
            <a:ext cx="5486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ublic San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PlantVillage shows single leaves on plain backgrounds. Real fields have overlapping leaves, soil, weeds and glare. Next step: train on in-the-wild data like PlantDoc.</a:t>
            </a:r>
            <a:endParaRPr b="0" i="0" sz="1600" u="none" cap="none" strike="noStrik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83" name="Google Shape;183;p22"/>
          <p:cNvSpPr txBox="1"/>
          <p:nvPr/>
        </p:nvSpPr>
        <p:spPr>
          <a:xfrm>
            <a:off x="548640" y="246888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Public Sans"/>
              <a:buNone/>
            </a:pPr>
            <a:r>
              <a:rPr b="1" i="0" lang="en-US" sz="1800" u="none" cap="none" strike="noStrike">
                <a:solidFill>
                  <a:schemeClr val="accent1"/>
                </a:solidFill>
                <a:latin typeface="Public Sans"/>
                <a:ea typeface="Public Sans"/>
                <a:cs typeface="Public Sans"/>
                <a:sym typeface="Public Sans"/>
              </a:rPr>
              <a:t>Micro-lesions</a:t>
            </a:r>
            <a:endParaRPr b="0" i="0" sz="1800" u="none" cap="none" strike="noStrik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84" name="Google Shape;184;p22"/>
          <p:cNvSpPr txBox="1"/>
          <p:nvPr/>
        </p:nvSpPr>
        <p:spPr>
          <a:xfrm>
            <a:off x="3108960" y="2468880"/>
            <a:ext cx="5486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ublic San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K-Means struggles with the earliest symptoms, such as bacterial pinpricks under 5 pixels. Multi-scale feature pyramids or attention gates could help.</a:t>
            </a:r>
            <a:endParaRPr b="0" i="0" sz="1600" u="none" cap="none" strike="noStrik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85" name="Google Shape;185;p22"/>
          <p:cNvSpPr txBox="1"/>
          <p:nvPr/>
        </p:nvSpPr>
        <p:spPr>
          <a:xfrm>
            <a:off x="548640" y="361188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Public Sans"/>
              <a:buNone/>
            </a:pPr>
            <a:r>
              <a:rPr b="1" i="0" lang="en-US" sz="1800" u="none" cap="none" strike="noStrike">
                <a:solidFill>
                  <a:schemeClr val="accent1"/>
                </a:solidFill>
                <a:latin typeface="Public Sans"/>
                <a:ea typeface="Public Sans"/>
                <a:cs typeface="Public Sans"/>
                <a:sym typeface="Public Sans"/>
              </a:rPr>
              <a:t>Edge deployment</a:t>
            </a:r>
            <a:endParaRPr b="0" i="0" sz="1800" u="none" cap="none" strike="noStrik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86" name="Google Shape;186;p22"/>
          <p:cNvSpPr txBox="1"/>
          <p:nvPr/>
        </p:nvSpPr>
        <p:spPr>
          <a:xfrm>
            <a:off x="3108960" y="3611880"/>
            <a:ext cx="5486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ublic San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Quantize the ~3.5M-parameter model to INT8 (PyTorch or ONNX Runtime) and run it offline on a Raspberry Pi 4/5 or an Android app.</a:t>
            </a:r>
            <a:endParaRPr b="0" i="0" sz="1600" u="none" cap="none" strike="noStrik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3"/>
          <p:cNvSpPr txBox="1"/>
          <p:nvPr>
            <p:ph type="title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nton"/>
              <a:buNone/>
            </a:pPr>
            <a:r>
              <a:rPr lang="en-US" sz="4000">
                <a:solidFill>
                  <a:schemeClr val="dk1"/>
                </a:solidFill>
              </a:rPr>
              <a:t>CONCLUSION</a:t>
            </a:r>
            <a:endParaRPr sz="4000"/>
          </a:p>
        </p:txBody>
      </p:sp>
      <p:sp>
        <p:nvSpPr>
          <p:cNvPr id="193" name="Google Shape;193;p23"/>
          <p:cNvSpPr txBox="1"/>
          <p:nvPr/>
        </p:nvSpPr>
        <p:spPr>
          <a:xfrm>
            <a:off x="548640" y="1463040"/>
            <a:ext cx="786384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600"/>
              <a:buFont typeface="Public Sans"/>
              <a:buNone/>
            </a:pPr>
            <a:r>
              <a:rPr b="1" i="0" lang="en-US" sz="2600" u="none" cap="none" strike="noStrike">
                <a:solidFill>
                  <a:schemeClr val="accent1"/>
                </a:solidFill>
                <a:latin typeface="Public Sans"/>
                <a:ea typeface="Public Sans"/>
                <a:cs typeface="Public Sans"/>
                <a:sym typeface="Public Sans"/>
              </a:rPr>
              <a:t>Segmentation</a:t>
            </a:r>
            <a:r>
              <a:rPr b="0" i="0" lang="en-US" sz="26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 tells us how bad it is.</a:t>
            </a:r>
            <a:endParaRPr b="0" i="0" sz="2600" u="none" cap="none" strike="noStrik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marR="0" rtl="0" algn="l"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ts val="2600"/>
              <a:buFont typeface="Public Sans"/>
              <a:buNone/>
            </a:pPr>
            <a:r>
              <a:rPr b="1" i="0" lang="en-US" sz="2600" u="none" cap="none" strike="noStrike">
                <a:solidFill>
                  <a:schemeClr val="accent1"/>
                </a:solidFill>
                <a:latin typeface="Public Sans"/>
                <a:ea typeface="Public Sans"/>
                <a:cs typeface="Public Sans"/>
                <a:sym typeface="Public Sans"/>
              </a:rPr>
              <a:t>MobileNetV2</a:t>
            </a:r>
            <a:r>
              <a:rPr b="0" i="0" lang="en-US" sz="26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 tells us what it is, with 99.78% test accuracy.</a:t>
            </a:r>
            <a:endParaRPr b="0" i="0" sz="2600" u="none" cap="none" strike="noStrik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marR="0" rtl="0" algn="l"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ts val="2600"/>
              <a:buFont typeface="Public Sans"/>
              <a:buNone/>
            </a:pPr>
            <a:r>
              <a:rPr b="1" i="0" lang="en-US" sz="2600" u="none" cap="none" strike="noStrike">
                <a:solidFill>
                  <a:schemeClr val="accent1"/>
                </a:solidFill>
                <a:latin typeface="Public Sans"/>
                <a:ea typeface="Public Sans"/>
                <a:cs typeface="Public Sans"/>
                <a:sym typeface="Public Sans"/>
              </a:rPr>
              <a:t>Grad-CAM</a:t>
            </a:r>
            <a:r>
              <a:rPr b="0" i="0" lang="en-US" sz="26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 shows us why.</a:t>
            </a:r>
            <a:endParaRPr b="0" i="0" sz="2600" u="none" cap="none" strike="noStrik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94" name="Google Shape;194;p23"/>
          <p:cNvSpPr txBox="1"/>
          <p:nvPr/>
        </p:nvSpPr>
        <p:spPr>
          <a:xfrm>
            <a:off x="548640" y="393192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Public Sans"/>
              <a:buNone/>
            </a:pPr>
            <a:r>
              <a:rPr b="0" i="0" lang="en-US" sz="1600" u="none" cap="none" strike="noStrik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rPr>
              <a:t>Together they turn a black-box prediction into something a farmer can check and trust.</a:t>
            </a:r>
            <a:endParaRPr b="0" i="0" sz="1600" u="none" cap="none" strike="noStrik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ur leaves: bell pepper, two potato and one healthy tomato" id="200" name="Google Shape;20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1435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4"/>
          <p:cNvSpPr txBox="1"/>
          <p:nvPr>
            <p:ph type="title"/>
          </p:nvPr>
        </p:nvSpPr>
        <p:spPr>
          <a:xfrm>
            <a:off x="5486400" y="2154550"/>
            <a:ext cx="32919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nton"/>
              <a:buNone/>
            </a:pPr>
            <a:r>
              <a:rPr lang="en-US" sz="6000">
                <a:solidFill>
                  <a:schemeClr val="dk1"/>
                </a:solidFill>
              </a:rPr>
              <a:t>THANK YOU</a:t>
            </a:r>
            <a:endParaRPr sz="6000"/>
          </a:p>
        </p:txBody>
      </p:sp>
      <p:sp>
        <p:nvSpPr>
          <p:cNvPr id="202" name="Google Shape;202;p24"/>
          <p:cNvSpPr txBox="1"/>
          <p:nvPr/>
        </p:nvSpPr>
        <p:spPr>
          <a:xfrm>
            <a:off x="5486400" y="3383280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ublic Sans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eaf Notes">
  <a:themeElements>
    <a:clrScheme name="Leaf Notes">
      <a:dk1>
        <a:srgbClr val="1A1A1A"/>
      </a:dk1>
      <a:lt1>
        <a:srgbClr val="F1F1EC"/>
      </a:lt1>
      <a:dk2>
        <a:srgbClr val="6B6B66"/>
      </a:dk2>
      <a:lt2>
        <a:srgbClr val="E4E4DC"/>
      </a:lt2>
      <a:accent1>
        <a:srgbClr val="2E6B3F"/>
      </a:accent1>
      <a:accent2>
        <a:srgbClr val="6B6B66"/>
      </a:accent2>
      <a:accent3>
        <a:srgbClr val="9A9A92"/>
      </a:accent3>
      <a:accent4>
        <a:srgbClr val="1A1A1A"/>
      </a:accent4>
      <a:accent5>
        <a:srgbClr val="2E6B3F"/>
      </a:accent5>
      <a:accent6>
        <a:srgbClr val="6B6B66"/>
      </a:accent6>
      <a:hlink>
        <a:srgbClr val="2E6B3F"/>
      </a:hlink>
      <a:folHlink>
        <a:srgbClr val="6B6B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Leaf Notes">
  <a:themeElements>
    <a:clrScheme name="Leaf Notes">
      <a:dk1>
        <a:srgbClr val="1A1A1A"/>
      </a:dk1>
      <a:lt1>
        <a:srgbClr val="F1F1EC"/>
      </a:lt1>
      <a:dk2>
        <a:srgbClr val="6B6B66"/>
      </a:dk2>
      <a:lt2>
        <a:srgbClr val="E4E4DC"/>
      </a:lt2>
      <a:accent1>
        <a:srgbClr val="2E6B3F"/>
      </a:accent1>
      <a:accent2>
        <a:srgbClr val="6B6B66"/>
      </a:accent2>
      <a:accent3>
        <a:srgbClr val="9A9A92"/>
      </a:accent3>
      <a:accent4>
        <a:srgbClr val="1A1A1A"/>
      </a:accent4>
      <a:accent5>
        <a:srgbClr val="2E6B3F"/>
      </a:accent5>
      <a:accent6>
        <a:srgbClr val="6B6B66"/>
      </a:accent6>
      <a:hlink>
        <a:srgbClr val="2E6B3F"/>
      </a:hlink>
      <a:folHlink>
        <a:srgbClr val="6B6B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